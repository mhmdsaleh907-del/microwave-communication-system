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58" r:id="rId4"/>
    <p:sldId id="259" r:id="rId5"/>
    <p:sldId id="260" r:id="rId6"/>
    <p:sldId id="261" r:id="rId7"/>
    <p:sldId id="282" r:id="rId8"/>
    <p:sldId id="280" r:id="rId9"/>
    <p:sldId id="262" r:id="rId10"/>
    <p:sldId id="279" r:id="rId11"/>
    <p:sldId id="283" r:id="rId12"/>
    <p:sldId id="264" r:id="rId13"/>
    <p:sldId id="278" r:id="rId14"/>
    <p:sldId id="266" r:id="rId15"/>
    <p:sldId id="267" r:id="rId16"/>
    <p:sldId id="265" r:id="rId17"/>
    <p:sldId id="284" r:id="rId18"/>
    <p:sldId id="285" r:id="rId19"/>
    <p:sldId id="286" r:id="rId20"/>
    <p:sldId id="287" r:id="rId21"/>
    <p:sldId id="293" r:id="rId22"/>
    <p:sldId id="298" r:id="rId23"/>
    <p:sldId id="299" r:id="rId24"/>
    <p:sldId id="300" r:id="rId25"/>
    <p:sldId id="301" r:id="rId26"/>
    <p:sldId id="295" r:id="rId27"/>
    <p:sldId id="297" r:id="rId28"/>
    <p:sldId id="303" r:id="rId29"/>
    <p:sldId id="296" r:id="rId30"/>
    <p:sldId id="277" r:id="rId31"/>
  </p:sldIdLst>
  <p:sldSz cx="12192000" cy="6858000"/>
  <p:notesSz cx="6858000" cy="9144000"/>
  <p:defaultTextStyle>
    <a:defPPr lvl="0">
      <a:defRPr lang="en-US"/>
    </a:defPPr>
    <a:lvl1pPr marL="0" lvl="0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2" lvl="1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63" lvl="2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45" lvl="3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27" lvl="4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09" lvl="5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90" lvl="6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272" lvl="7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454" lvl="8" algn="l" defTabSz="91436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نمط ذو نسُق 1 - تميي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نمط ذو نسُق 1 - تمييز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نمط متوسط 2 - تميي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نمط متوسط 1 - تميي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941" autoAdjust="0"/>
    <p:restoredTop sz="94301" autoAdjust="0"/>
  </p:normalViewPr>
  <p:slideViewPr>
    <p:cSldViewPr snapToGrid="0">
      <p:cViewPr varScale="1">
        <p:scale>
          <a:sx n="68" d="100"/>
          <a:sy n="68" d="100"/>
        </p:scale>
        <p:origin x="900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رأس 1">
            <a:extLst>
              <a:ext uri="{FF2B5EF4-FFF2-40B4-BE49-F238E27FC236}">
                <a16:creationId xmlns:a16="http://schemas.microsoft.com/office/drawing/2014/main" id="{5C9D6CC0-549B-FAF7-0E4A-18562DAB118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ar-SY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208A080E-61D2-E517-437F-A458863F1E4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38401A47-3EB4-46DC-AC80-D0CCA9E2CE8B}" type="datetimeFigureOut">
              <a:rPr lang="ar-SY" smtClean="0"/>
              <a:t>29/06/1447</a:t>
            </a:fld>
            <a:endParaRPr lang="ar-SY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1F94874E-7946-D9B6-EB19-241FA0EEBD5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ar-SY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1E188658-BC63-10A5-1032-E8130A7558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85AF49A-ABA6-4A91-A0BB-BCFA24D10E5C}" type="slidenum">
              <a:rPr lang="ar-SY" smtClean="0"/>
              <a:t>‹#›</a:t>
            </a:fld>
            <a:endParaRPr lang="ar-SY"/>
          </a:p>
        </p:txBody>
      </p:sp>
    </p:spTree>
    <p:extLst>
      <p:ext uri="{BB962C8B-B14F-4D97-AF65-F5344CB8AC3E}">
        <p14:creationId xmlns:p14="http://schemas.microsoft.com/office/powerpoint/2010/main" val="108511013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849211-64E6-4E4C-A613-55BA15B81823}" type="datetimeFigureOut">
              <a:rPr lang="en-US" smtClean="0"/>
              <a:t>12/19/2025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0791CE-92B6-4B97-B409-16E82D38D6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5309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63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45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27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09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90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272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454" algn="l" defTabSz="914363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298983-9A2C-45CB-A042-D56FA2B852D9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2273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896A07-0D02-4822-8CBE-6F971D24793C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73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9D574-D922-491B-9F3C-D14C9718FF25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89808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D60DE-7136-4993-A97D-5118DEF02054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A5D01D-CADE-4FC1-8BC8-01F66736FC9A}" type="datetime1">
              <a:rPr lang="en-US" smtClean="0"/>
              <a:t>12/19/2025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836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72D916-63BF-4DF2-BC7E-6B48D78C579B}" type="datetime1">
              <a:rPr lang="en-US" smtClean="0"/>
              <a:t>12/19/2025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219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6DF76-A54B-4BF2-80FC-C10A8799D276}" type="datetime1">
              <a:rPr lang="en-US" smtClean="0"/>
              <a:t>12/19/2025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619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2652F-44A6-434F-82D2-39275E29FD36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200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A335BC-896B-41B5-9B51-BBD52CE46CCE}" type="datetime1">
              <a:rPr lang="en-US" smtClean="0"/>
              <a:t>12/19/2025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3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1F44B6-99E7-4050-8368-85C003597F1D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71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1F55D6-D811-4905-A0A8-4ECAB81666F5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65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50EEE0-77E2-4941-AB35-0C55FC24806F}" type="datetime1">
              <a:rPr lang="en-US" smtClean="0"/>
              <a:t>12/19/2025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884576-858C-4F92-9F6C-1C9B522FD6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7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>
            <a:extLst>
              <a:ext uri="{FF2B5EF4-FFF2-40B4-BE49-F238E27FC236}">
                <a16:creationId xmlns:a16="http://schemas.microsoft.com/office/drawing/2014/main" id="{66B203AF-2AB2-4FD0-8803-104E1606C49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886" y="139922"/>
            <a:ext cx="1512231" cy="137605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مربع نص 3">
            <a:extLst>
              <a:ext uri="{FF2B5EF4-FFF2-40B4-BE49-F238E27FC236}">
                <a16:creationId xmlns:a16="http://schemas.microsoft.com/office/drawing/2014/main" id="{12389393-1860-170B-3E79-BE9E292481A0}"/>
              </a:ext>
            </a:extLst>
          </p:cNvPr>
          <p:cNvSpPr txBox="1"/>
          <p:nvPr/>
        </p:nvSpPr>
        <p:spPr>
          <a:xfrm>
            <a:off x="0" y="57803"/>
            <a:ext cx="12192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endParaRPr lang="en-US" b="1" dirty="0">
              <a:latin typeface="Simplified Arabic" pitchFamily="18" charset="-78"/>
              <a:cs typeface="Simplified Arabic" pitchFamily="18" charset="-78"/>
            </a:endParaRPr>
          </a:p>
          <a:p>
            <a:pPr algn="r" rtl="1"/>
            <a:endParaRPr lang="en-US" b="1" dirty="0"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الجمهورية العربية السورية</a:t>
            </a:r>
            <a:endParaRPr lang="ar-SY" b="1" dirty="0"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وزارة التعليم العالي والبحث العلمي</a:t>
            </a:r>
            <a: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b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ال</a:t>
            </a:r>
            <a: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جامعة </a:t>
            </a:r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السورية الخاصة</a:t>
            </a:r>
            <a:endParaRPr lang="en-US" b="1" dirty="0">
              <a:ea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r" rtl="1"/>
            <a: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كلية الهندسة</a:t>
            </a:r>
            <a:b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</a:br>
            <a:r>
              <a:rPr lang="ar-SA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قسم هندسة الاتصالات </a:t>
            </a:r>
            <a:r>
              <a:rPr lang="ar-SY" b="1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والشبكات</a:t>
            </a:r>
            <a:endParaRPr lang="ar-SY" sz="24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algn="ctr" rtl="1"/>
            <a:r>
              <a:rPr lang="ar-SY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مشروع فصلي في </a:t>
            </a:r>
            <a:r>
              <a:rPr lang="ar-SY" sz="2400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هندسة</a:t>
            </a:r>
            <a:r>
              <a:rPr lang="ar-SA" sz="2400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Y" sz="2400" dirty="0">
                <a:ea typeface="Simplified Arabic" panose="02020603050405020304" pitchFamily="18" charset="-78"/>
                <a:cs typeface="Simplified Arabic" panose="02020603050405020304" pitchFamily="18" charset="-78"/>
              </a:rPr>
              <a:t>الاتصالات</a:t>
            </a:r>
            <a:r>
              <a:rPr lang="ar-SY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Simplified Arabic" panose="02020603050405020304" pitchFamily="18" charset="-78"/>
                <a:cs typeface="Simplified Arabic" panose="02020603050405020304" pitchFamily="18" charset="-78"/>
              </a:rPr>
              <a:t> </a:t>
            </a:r>
            <a:r>
              <a:rPr lang="ar-SA" sz="2400" dirty="0">
                <a:solidFill>
                  <a:srgbClr val="000000"/>
                </a:solidFill>
                <a:uFill>
                  <a:solidFill>
                    <a:srgbClr val="000000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Simplified Arabic" panose="02020603050405020304" pitchFamily="18" charset="-78"/>
              </a:rPr>
              <a:t>بعنوان:</a:t>
            </a:r>
            <a:endParaRPr lang="ar-SY" sz="2400" dirty="0">
              <a:solidFill>
                <a:srgbClr val="000000"/>
              </a:solidFill>
              <a:uFill>
                <a:solidFill>
                  <a:srgbClr val="000000"/>
                </a:solidFill>
              </a:uFill>
              <a:latin typeface="Calibri" panose="020F0502020204030204" pitchFamily="34" charset="0"/>
              <a:ea typeface="Calibri" panose="020F0502020204030204" pitchFamily="34" charset="0"/>
              <a:cs typeface="Simplified Arabic" panose="02020603050405020304" pitchFamily="18" charset="-78"/>
            </a:endParaRPr>
          </a:p>
          <a:p>
            <a:pPr algn="ctr"/>
            <a:endParaRPr lang="ar-SY" sz="2000" b="1" dirty="0"/>
          </a:p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SY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plified Arabic" panose="02020603050405020304" pitchFamily="18" charset="-78"/>
                <a:cs typeface="Simplified Arabic" panose="02020603050405020304" pitchFamily="18" charset="-78"/>
              </a:rPr>
              <a:t>إنشاء منظومة اتصالات لاسلكية ميكروية</a:t>
            </a:r>
          </a:p>
          <a:p>
            <a:pPr marL="0" marR="0" lvl="0" indent="0" algn="ctr" defTabSz="4572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SY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  <a:p>
            <a:pPr algn="ctr"/>
            <a:r>
              <a:rPr lang="en-US" sz="3200" dirty="0"/>
              <a:t>Create a Microwave Wireless Communication System</a:t>
            </a:r>
            <a:endParaRPr lang="ar-SY" b="1" dirty="0">
              <a:solidFill>
                <a:prstClr val="black"/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ctr" defTabSz="457200" rtl="1">
              <a:defRPr/>
            </a:pPr>
            <a:r>
              <a:rPr lang="ar-AE" dirty="0">
                <a:solidFill>
                  <a:prstClr val="black"/>
                </a:solidFill>
                <a:latin typeface="Simplified Arabic" pitchFamily="18" charset="-78"/>
                <a:cs typeface="Simplified Arabic" pitchFamily="18" charset="-78"/>
              </a:rPr>
              <a:t>إعداد</a:t>
            </a:r>
            <a:r>
              <a:rPr lang="ar-SY" dirty="0">
                <a:solidFill>
                  <a:prstClr val="black"/>
                </a:solidFill>
                <a:latin typeface="Simplified Arabic" pitchFamily="18" charset="-78"/>
                <a:cs typeface="Simplified Arabic" pitchFamily="18" charset="-78"/>
              </a:rPr>
              <a:t>:</a:t>
            </a:r>
          </a:p>
          <a:p>
            <a:pPr algn="ctr" defTabSz="457200" rtl="1">
              <a:defRPr/>
            </a:pPr>
            <a:r>
              <a:rPr lang="ar-SY" b="1" dirty="0"/>
              <a:t>محمد مسلم عبدالرحمن صالح السليمان</a:t>
            </a:r>
            <a:br>
              <a:rPr lang="ar-SY" dirty="0"/>
            </a:br>
            <a:r>
              <a:rPr lang="ar-SY" b="1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 </a:t>
            </a:r>
            <a:r>
              <a:rPr lang="ar-AE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المشرف</a:t>
            </a:r>
            <a:r>
              <a:rPr lang="ar-SY" dirty="0">
                <a:solidFill>
                  <a:prstClr val="black"/>
                </a:solidFill>
                <a:latin typeface="Century Gothic" panose="020B0502020202020204"/>
                <a:cs typeface="Simplified Arabic" panose="02020603050405020304" pitchFamily="18" charset="-78"/>
              </a:rPr>
              <a:t> العلمي:</a:t>
            </a:r>
          </a:p>
          <a:p>
            <a:pPr algn="ctr" defTabSz="457200" rtl="1">
              <a:lnSpc>
                <a:spcPct val="110000"/>
              </a:lnSpc>
              <a:defRPr/>
            </a:pPr>
            <a:r>
              <a:rPr lang="ar-SY" b="1" dirty="0">
                <a:solidFill>
                  <a:prstClr val="black"/>
                </a:solidFill>
                <a:latin typeface="Simplified Arabic" pitchFamily="18" charset="-78"/>
                <a:cs typeface="Simplified Arabic" pitchFamily="18" charset="-78"/>
              </a:rPr>
              <a:t>د. طلال حمود </a:t>
            </a:r>
            <a:br>
              <a:rPr lang="ar-SY" b="1" dirty="0">
                <a:solidFill>
                  <a:prstClr val="black"/>
                </a:solidFill>
                <a:latin typeface="Simplified Arabic" pitchFamily="18" charset="-78"/>
                <a:cs typeface="Simplified Arabic" pitchFamily="18" charset="-78"/>
              </a:rPr>
            </a:br>
            <a:r>
              <a:rPr lang="ar-SY" b="1" dirty="0">
                <a:solidFill>
                  <a:prstClr val="black"/>
                </a:solidFill>
                <a:latin typeface="Simplified Arabic" pitchFamily="18" charset="-78"/>
                <a:cs typeface="Simplified Arabic" pitchFamily="18" charset="-78"/>
              </a:rPr>
              <a:t>م. يزن أبو رافع </a:t>
            </a:r>
          </a:p>
        </p:txBody>
      </p:sp>
      <p:pic>
        <p:nvPicPr>
          <p:cNvPr id="2" name="صورة 1">
            <a:extLst>
              <a:ext uri="{FF2B5EF4-FFF2-40B4-BE49-F238E27FC236}">
                <a16:creationId xmlns:a16="http://schemas.microsoft.com/office/drawing/2014/main" id="{7A8C9A35-AEBF-CAC5-D10F-55F0D07A07EF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575" y="99367"/>
            <a:ext cx="2227201" cy="1662526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D0756C71-4321-41F5-55D5-66B2C69F5F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9419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AA9BD-5B28-4BB1-803B-54BB6E1B0DE1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4128FC70-EC87-4505-B103-CC8A34AD5B99}"/>
              </a:ext>
            </a:extLst>
          </p:cNvPr>
          <p:cNvSpPr txBox="1"/>
          <p:nvPr/>
        </p:nvSpPr>
        <p:spPr>
          <a:xfrm>
            <a:off x="1753565" y="5010859"/>
            <a:ext cx="2234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المشكلة التي يعالجها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latin typeface="Simplified Arabic" pitchFamily="18" charset="-78"/>
                <a:cs typeface="Simplified Arabic" pitchFamily="18" charset="-78"/>
              </a:rPr>
              <a:t>خطوات</a:t>
            </a: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ar-SY" dirty="0">
                <a:latin typeface="Simplified Arabic" pitchFamily="18" charset="-78"/>
                <a:cs typeface="Simplified Arabic" pitchFamily="18" charset="-78"/>
              </a:rPr>
              <a:t>تنفيذ</a:t>
            </a: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</a:t>
            </a:r>
            <a:r>
              <a:rPr lang="ar-SY" dirty="0">
                <a:latin typeface="Simplified Arabic" pitchFamily="18" charset="-78"/>
                <a:cs typeface="Simplified Arabic" pitchFamily="18" charset="-78"/>
              </a:rPr>
              <a:t>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ar-SY" dirty="0">
              <a:solidFill>
                <a:schemeClr val="tx1">
                  <a:lumMod val="95000"/>
                  <a:lumOff val="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3B89D685-59FE-B458-1664-9E18A0F0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565556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933E0-D0A5-DD1F-5288-1A4DAE79B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2DB44C9-F29F-5CE2-0FC4-D9DC0BD8CA16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CE39B85-2207-5564-94CC-04A14B41FD25}"/>
              </a:ext>
            </a:extLst>
          </p:cNvPr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tx1">
                    <a:lumMod val="95000"/>
                    <a:lumOff val="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المشكلة التي يعالجها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خطوات تنفيذ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3F9ED0E4-ADD3-8102-0631-EE562CA9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310388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AA9BD-5B28-4BB1-803B-54BB6E1B0DE1}"/>
              </a:ext>
            </a:extLst>
          </p:cNvPr>
          <p:cNvSpPr txBox="1"/>
          <p:nvPr/>
        </p:nvSpPr>
        <p:spPr>
          <a:xfrm>
            <a:off x="3718669" y="616889"/>
            <a:ext cx="475466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anose="02020603050405020304" pitchFamily="18" charset="-78"/>
                <a:cs typeface="Simplified Arabic" panose="02020603050405020304" pitchFamily="18" charset="-78"/>
              </a:rPr>
              <a:t>هدف المشروع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anose="02020603050405020304" pitchFamily="18" charset="-78"/>
              <a:cs typeface="Simplified Arabic" panose="02020603050405020304" pitchFamily="18" charset="-78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900989" y="1949227"/>
            <a:ext cx="8756612" cy="24929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A" sz="2800" b="1" i="1" dirty="0"/>
              <a:t>يهدف ال</a:t>
            </a:r>
            <a:r>
              <a:rPr lang="ar-SY" sz="2800" b="1" i="1" dirty="0"/>
              <a:t>مشروع </a:t>
            </a:r>
            <a:r>
              <a:rPr lang="ar-SA" sz="2800" b="1" i="1" dirty="0"/>
              <a:t> إلى:</a:t>
            </a:r>
            <a:endParaRPr lang="ar-SY" sz="2800" b="1" i="1" dirty="0"/>
          </a:p>
          <a:p>
            <a:pPr lvl="0" algn="ctr" rtl="1">
              <a:lnSpc>
                <a:spcPct val="150000"/>
              </a:lnSpc>
            </a:pPr>
            <a:r>
              <a:rPr lang="ar-SY" sz="2800" b="1" dirty="0">
                <a:solidFill>
                  <a:prstClr val="black"/>
                </a:solidFill>
                <a:latin typeface="Simplified Arabic" panose="02020603050405020304" pitchFamily="18" charset="-78"/>
                <a:cs typeface="Simplified Arabic" panose="02020603050405020304" pitchFamily="18" charset="-78"/>
              </a:rPr>
              <a:t>إنشاء منظومة اتصالات لاسلكية ميكروية</a:t>
            </a:r>
            <a:endParaRPr lang="ar-SY" sz="3200" b="1" i="1" dirty="0"/>
          </a:p>
          <a:p>
            <a:pPr marL="3429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Y" sz="2400" dirty="0"/>
              <a:t>لدراستها وتحليل أدائها في ظروف مختلفة</a:t>
            </a:r>
          </a:p>
          <a:p>
            <a:pPr marL="342900" lvl="1" indent="-342900" algn="r" rt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r-SY" sz="2400" dirty="0"/>
              <a:t>التركيز على مقارنة تأثير آليات الترميز المختلفة على جودة الاتصال.</a:t>
            </a:r>
            <a:endParaRPr lang="ar-SY" sz="2800" dirty="0"/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80E7F895-E01F-F44F-E8B6-9B80FCA7E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5155144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22B283-721C-9227-D276-4797558D0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7B2403-E7A9-F2F6-961E-F0766063BC6A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7E604530-2EB2-6BDE-95C3-346BC0E7ECD3}"/>
              </a:ext>
            </a:extLst>
          </p:cNvPr>
          <p:cNvSpPr txBox="1"/>
          <p:nvPr/>
        </p:nvSpPr>
        <p:spPr>
          <a:xfrm>
            <a:off x="1753565" y="5010859"/>
            <a:ext cx="2234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BFE4C-9561-B1D1-B068-F9DB1F8BF158}"/>
              </a:ext>
            </a:extLst>
          </p:cNvPr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مشكلة المشروع وأهميته</a:t>
            </a: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خطوات تنفيذ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 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7F76E95D-1ED4-8C38-2829-BCF2F05BA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4300644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8AA9BD-5B28-4BB1-803B-54BB6E1B0DE1}"/>
              </a:ext>
            </a:extLst>
          </p:cNvPr>
          <p:cNvSpPr txBox="1"/>
          <p:nvPr/>
        </p:nvSpPr>
        <p:spPr>
          <a:xfrm>
            <a:off x="1759196" y="258525"/>
            <a:ext cx="8116546" cy="10233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1">
              <a:lnSpc>
                <a:spcPct val="150000"/>
              </a:lnSpc>
            </a:pPr>
            <a:r>
              <a:rPr lang="ar-SY" sz="4400" b="1" dirty="0">
                <a:latin typeface="Simplified Arabic" pitchFamily="18" charset="-78"/>
                <a:cs typeface="Simplified Arabic" pitchFamily="18" charset="-78"/>
              </a:rPr>
              <a:t>مشكلة المشروع وأهميته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1882"/>
            <a:ext cx="12053455" cy="3231654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r" rtl="1">
              <a:lnSpc>
                <a:spcPct val="150000"/>
              </a:lnSpc>
            </a:pPr>
            <a:r>
              <a:rPr lang="ar-SY" sz="2400" b="1" u="sng" dirty="0">
                <a:latin typeface="Simplified Arabic" pitchFamily="18" charset="-78"/>
                <a:cs typeface="Simplified Arabic" pitchFamily="18" charset="-78"/>
              </a:rPr>
              <a:t>مشكلة المشروع :</a:t>
            </a:r>
            <a:endParaRPr lang="ar-SY" sz="4000" b="1" u="sng" dirty="0">
              <a:latin typeface="Simplified Arabic" pitchFamily="18" charset="-78"/>
              <a:cs typeface="Simplified Arabic" pitchFamily="18" charset="-78"/>
            </a:endParaRPr>
          </a:p>
          <a:p>
            <a:pPr algn="r"/>
            <a:r>
              <a:rPr lang="ar-SY" sz="3200" dirty="0"/>
              <a:t>تعاني منظومات الاتصالات اللاسلكية من عدم الدقة نتيجة استخدام تراميز (تراميز منبع , تراميز قناة , تراميز خط) غير مناسبة للوسط وغير مناسبة لبعض التطبيقات.</a:t>
            </a:r>
            <a:br>
              <a:rPr lang="ar-SY" sz="3200" dirty="0"/>
            </a:br>
            <a:r>
              <a:rPr lang="ar-SY" sz="3200" dirty="0"/>
              <a:t> </a:t>
            </a:r>
            <a:r>
              <a:rPr lang="ar-SY" sz="2400" b="1" u="sng" dirty="0">
                <a:latin typeface="Simplified Arabic" pitchFamily="18" charset="-78"/>
                <a:cs typeface="Simplified Arabic" pitchFamily="18" charset="-78"/>
              </a:rPr>
              <a:t>أهمية المشروع :</a:t>
            </a:r>
          </a:p>
          <a:p>
            <a:pPr marL="342900" indent="-342900" algn="r" rtl="1">
              <a:lnSpc>
                <a:spcPct val="150000"/>
              </a:lnSpc>
              <a:buFont typeface="Simplified Arabic" panose="02020603050405020304" pitchFamily="18" charset="-78"/>
              <a:buChar char="-"/>
            </a:pPr>
            <a:r>
              <a:rPr lang="ar-SY" sz="2400" b="1" u="sng" dirty="0">
                <a:latin typeface="Simplified Arabic" pitchFamily="18" charset="-78"/>
                <a:cs typeface="Simplified Arabic" pitchFamily="18" charset="-78"/>
              </a:rPr>
              <a:t>دقة اعلى للإشارة باختيار التراميز المناسبة تبعا للوسط المدروس</a:t>
            </a:r>
          </a:p>
          <a:p>
            <a:pPr algn="r" rtl="1">
              <a:lnSpc>
                <a:spcPct val="150000"/>
              </a:lnSpc>
            </a:pPr>
            <a:endParaRPr lang="ar-SY" sz="2400" b="1" u="sng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5FA71E2C-519E-E87D-B3B9-E1AB17222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2225308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AE2D-6E74-A77E-05AC-80D42B61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F57A63-C604-681C-9B96-CB9D389F12AD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E96244-7F50-C4AE-ABAA-19D42E1EF807}"/>
              </a:ext>
            </a:extLst>
          </p:cNvPr>
          <p:cNvSpPr txBox="1"/>
          <p:nvPr/>
        </p:nvSpPr>
        <p:spPr>
          <a:xfrm>
            <a:off x="1753565" y="5010859"/>
            <a:ext cx="2234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D2438-CE44-1BB1-A709-0D0FB8BFA2DA}"/>
              </a:ext>
            </a:extLst>
          </p:cNvPr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المشكلة التي يعالجها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خطوات تنفيذ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4A4000E2-1FD5-1AE8-A6D7-EA90B9B42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0675703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/>
          <p:cNvSpPr txBox="1"/>
          <p:nvPr/>
        </p:nvSpPr>
        <p:spPr>
          <a:xfrm>
            <a:off x="1393284" y="1474063"/>
            <a:ext cx="107987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دراسة مرجعية ونظرية لتراميز القناة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دراسة مرجعية ونظرية لتراميز الخط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دراسة مرجعية ونظرية لتراميز المنبع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دراسة مرجعية ونظرية للتعديلات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دراسة مرجعية ونظرية للاتصالات الميكروية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دراسة مرجعية ونظرية للضجيج و انواعه 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محاكاة ونمذجة منظومة الاتصالات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ar-SY" sz="2400" dirty="0"/>
              <a:t>اختبار الأداء وتحليله عند التراميز المحددة في عدة سيناريوهات  </a:t>
            </a:r>
            <a:endParaRPr lang="en-US" sz="2400" dirty="0"/>
          </a:p>
        </p:txBody>
      </p:sp>
      <p:sp>
        <p:nvSpPr>
          <p:cNvPr id="2" name="مستطيل 1"/>
          <p:cNvSpPr/>
          <p:nvPr/>
        </p:nvSpPr>
        <p:spPr>
          <a:xfrm>
            <a:off x="3606086" y="266740"/>
            <a:ext cx="502276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ar-SY" sz="4400" b="1" dirty="0"/>
              <a:t>خطوات تنفيذ المشروع</a:t>
            </a:r>
            <a:endParaRPr lang="ar-SY" sz="5400" b="1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7427A211-0C4C-44CD-84DE-092A06E78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493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AE2D-6E74-A77E-05AC-80D42B61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F57A63-C604-681C-9B96-CB9D389F12AD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B8E96244-7F50-C4AE-ABAA-19D42E1EF807}"/>
              </a:ext>
            </a:extLst>
          </p:cNvPr>
          <p:cNvSpPr txBox="1"/>
          <p:nvPr/>
        </p:nvSpPr>
        <p:spPr>
          <a:xfrm>
            <a:off x="1753565" y="5010859"/>
            <a:ext cx="2234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7D2438-CE44-1BB1-A709-0D0FB8BFA2DA}"/>
              </a:ext>
            </a:extLst>
          </p:cNvPr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المشكلة التي يعالجها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خطوات تنفيذ المشروع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dirty="0">
              <a:solidFill>
                <a:schemeClr val="bg1">
                  <a:lumMod val="75000"/>
                </a:schemeClr>
              </a:solidFill>
              <a:latin typeface="Simplified Arabic" pitchFamily="18" charset="-78"/>
              <a:cs typeface="Simplified Arabic" pitchFamily="18" charset="-78"/>
            </a:endParaRPr>
          </a:p>
          <a:p>
            <a:pPr algn="r" rtl="1">
              <a:lnSpc>
                <a:spcPct val="150000"/>
              </a:lnSpc>
            </a:pPr>
            <a:endParaRPr lang="ar-SY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8DB074CD-028D-62FB-F80D-0430356AD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89394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صورة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39815"/>
            <a:ext cx="12191999" cy="4360984"/>
          </a:xfrm>
          <a:prstGeom prst="rect">
            <a:avLst/>
          </a:prstGeom>
        </p:spPr>
      </p:pic>
      <p:sp>
        <p:nvSpPr>
          <p:cNvPr id="3" name="مربع نص 2"/>
          <p:cNvSpPr txBox="1"/>
          <p:nvPr/>
        </p:nvSpPr>
        <p:spPr>
          <a:xfrm>
            <a:off x="3149887" y="1058514"/>
            <a:ext cx="56029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dirty="0"/>
              <a:t>المخطط العام للاتصالات </a:t>
            </a:r>
            <a:endParaRPr lang="en-US" sz="4400" dirty="0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D6BB962E-D30D-B979-2902-B435596D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10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6A5EB0E-8200-8F82-3D2D-94BC5F06ABE4}"/>
              </a:ext>
            </a:extLst>
          </p:cNvPr>
          <p:cNvSpPr txBox="1">
            <a:spLocks/>
          </p:cNvSpPr>
          <p:nvPr/>
        </p:nvSpPr>
        <p:spPr>
          <a:xfrm>
            <a:off x="2997144" y="184108"/>
            <a:ext cx="5908431" cy="82963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النظريّة (6/1)</a:t>
            </a:r>
            <a:endParaRPr lang="en-US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704308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43AE2D-6E74-A77E-05AC-80D42B611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Box 85">
            <a:extLst>
              <a:ext uri="{FF2B5EF4-FFF2-40B4-BE49-F238E27FC236}">
                <a16:creationId xmlns:a16="http://schemas.microsoft.com/office/drawing/2014/main" id="{B8E96244-7F50-C4AE-ABAA-19D42E1EF807}"/>
              </a:ext>
            </a:extLst>
          </p:cNvPr>
          <p:cNvSpPr txBox="1"/>
          <p:nvPr/>
        </p:nvSpPr>
        <p:spPr>
          <a:xfrm>
            <a:off x="1753565" y="5010859"/>
            <a:ext cx="22345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A6A6A6"/>
              </a:solidFill>
              <a:latin typeface="Tw Cen MT" panose="020B0602020104020603" pitchFamily="34" charset="0"/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2936384" y="2627290"/>
            <a:ext cx="58264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العمليات التي تتم في المرسل</a:t>
            </a:r>
            <a:endParaRPr lang="en-US" sz="4400" b="1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605E8F90-D6CA-8749-6BA1-E4F5665E1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67764741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مربع نص 3">
            <a:extLst>
              <a:ext uri="{FF2B5EF4-FFF2-40B4-BE49-F238E27FC236}">
                <a16:creationId xmlns:a16="http://schemas.microsoft.com/office/drawing/2014/main" id="{349E64D5-C00D-E28C-31AE-DDB66FA367E6}"/>
              </a:ext>
            </a:extLst>
          </p:cNvPr>
          <p:cNvSpPr txBox="1"/>
          <p:nvPr/>
        </p:nvSpPr>
        <p:spPr>
          <a:xfrm>
            <a:off x="0" y="670870"/>
            <a:ext cx="1219200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800" b="1" dirty="0"/>
              <a:t>ترميز المنبع (</a:t>
            </a:r>
            <a:r>
              <a:rPr lang="en-US" sz="2800" b="1" dirty="0"/>
              <a:t>Source coding</a:t>
            </a:r>
            <a:r>
              <a:rPr lang="ar-SY" sz="2800" b="1" dirty="0"/>
              <a:t>)</a:t>
            </a:r>
            <a:endParaRPr lang="ar-SY" sz="2800" dirty="0"/>
          </a:p>
          <a:p>
            <a:pPr algn="r" rtl="1"/>
            <a:r>
              <a:rPr lang="ar-SY" sz="2400" dirty="0"/>
              <a:t>ضغط البيانات وتقليل معدل الإرسال مع الحفاظ على المعلومات المهمة , 					   الخوارزميات المستخدمة :</a:t>
            </a:r>
            <a:r>
              <a:rPr lang="en-US" sz="2400" dirty="0"/>
              <a:t>Shannon, Fano, Arithmetic Coding, Huffman</a:t>
            </a:r>
          </a:p>
          <a:p>
            <a:pPr algn="r" rtl="1"/>
            <a:endParaRPr lang="en-US" sz="2400" dirty="0"/>
          </a:p>
          <a:p>
            <a:pPr algn="r" rtl="1"/>
            <a:r>
              <a:rPr lang="en-US" sz="2400" dirty="0"/>
              <a:t>	</a:t>
            </a:r>
            <a:r>
              <a:rPr lang="ar-SY" sz="2400" dirty="0"/>
              <a:t>        		</a:t>
            </a:r>
            <a:endParaRPr lang="en-US" sz="2400" dirty="0"/>
          </a:p>
        </p:txBody>
      </p:sp>
      <p:graphicFrame>
        <p:nvGraphicFramePr>
          <p:cNvPr id="7" name="جدول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5120670"/>
              </p:ext>
            </p:extLst>
          </p:nvPr>
        </p:nvGraphicFramePr>
        <p:xfrm>
          <a:off x="0" y="2060621"/>
          <a:ext cx="12192000" cy="4295729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5015345">
                  <a:extLst>
                    <a:ext uri="{9D8B030D-6E8A-4147-A177-3AD203B41FA5}">
                      <a16:colId xmlns:a16="http://schemas.microsoft.com/office/drawing/2014/main" val="797672929"/>
                    </a:ext>
                  </a:extLst>
                </a:gridCol>
                <a:gridCol w="1302328">
                  <a:extLst>
                    <a:ext uri="{9D8B030D-6E8A-4147-A177-3AD203B41FA5}">
                      <a16:colId xmlns:a16="http://schemas.microsoft.com/office/drawing/2014/main" val="2678085679"/>
                    </a:ext>
                  </a:extLst>
                </a:gridCol>
                <a:gridCol w="4211782">
                  <a:extLst>
                    <a:ext uri="{9D8B030D-6E8A-4147-A177-3AD203B41FA5}">
                      <a16:colId xmlns:a16="http://schemas.microsoft.com/office/drawing/2014/main" val="1214592030"/>
                    </a:ext>
                  </a:extLst>
                </a:gridCol>
                <a:gridCol w="1662545">
                  <a:extLst>
                    <a:ext uri="{9D8B030D-6E8A-4147-A177-3AD203B41FA5}">
                      <a16:colId xmlns:a16="http://schemas.microsoft.com/office/drawing/2014/main" val="1855374533"/>
                    </a:ext>
                  </a:extLst>
                </a:gridCol>
              </a:tblGrid>
              <a:tr h="798103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الملاحظة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متوسط الطول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الترميز المقترح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الخوارزمية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00669"/>
                  </a:ext>
                </a:extLst>
              </a:tr>
              <a:tr h="89984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لا يمكن ضغطها أكثر في حالة رمزين فقط، فكود ثابت هو الأفضل.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1.0 بت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0 → 0, 1 →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Huffman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8790415"/>
                  </a:ext>
                </a:extLst>
              </a:tr>
              <a:tr h="89984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غير عملي هنا لأن الفرق بين الاحتمالين صغير.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~1.3 بت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يعطي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l(0)=1, l(1)=4 </a:t>
                      </a:r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تقريبًا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Shannon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7097280"/>
                  </a:ext>
                </a:extLst>
              </a:tr>
              <a:tr h="798103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كود بسيط وغير مضغوط فعليًا.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1.0 بت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يشبه </a:t>
                      </a:r>
                      <a:r>
                        <a:rPr lang="ar-SY" sz="2000" dirty="0" err="1">
                          <a:solidFill>
                            <a:schemeClr val="tx1"/>
                          </a:solidFill>
                        </a:rPr>
                        <a:t>هوفمان</a:t>
                      </a:r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، فيعطي نفس النتيجة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Shannon–</a:t>
                      </a:r>
                      <a:r>
                        <a:rPr lang="en-US" sz="2000" dirty="0" err="1">
                          <a:solidFill>
                            <a:schemeClr val="tx1"/>
                          </a:solidFill>
                        </a:rPr>
                        <a:t>Fano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5331879"/>
                  </a:ext>
                </a:extLst>
              </a:tr>
              <a:tr h="89984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الأفضل من حيث الكفاءة، يقترب من الإنتروبي الحقيقي.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≈0.47 بت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يحوّل السلسلة كلها إلى رقم عشري واحد بين (0,1)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Arithmetic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2403751"/>
                  </a:ext>
                </a:extLst>
              </a:tr>
            </a:tbl>
          </a:graphicData>
        </a:graphic>
      </p:graphicFrame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66F3FE17-9767-3C29-F9E2-7F4B44983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12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D2E734-34B7-E15C-ED14-CAD5E26F413D}"/>
              </a:ext>
            </a:extLst>
          </p:cNvPr>
          <p:cNvSpPr txBox="1">
            <a:spLocks/>
          </p:cNvSpPr>
          <p:nvPr/>
        </p:nvSpPr>
        <p:spPr>
          <a:xfrm>
            <a:off x="2997144" y="136524"/>
            <a:ext cx="5908431" cy="584694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النظريّة (6/2)</a:t>
            </a:r>
            <a:endParaRPr lang="en-US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741907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جدول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3304275"/>
              </p:ext>
            </p:extLst>
          </p:nvPr>
        </p:nvGraphicFramePr>
        <p:xfrm>
          <a:off x="0" y="1763741"/>
          <a:ext cx="12192000" cy="4641898"/>
        </p:xfrm>
        <a:graphic>
          <a:graphicData uri="http://schemas.openxmlformats.org/drawingml/2006/table">
            <a:tbl>
              <a:tblPr firstRow="1" lastCol="1">
                <a:tableStyleId>{5C22544A-7EE6-4342-B048-85BDC9FD1C3A}</a:tableStyleId>
              </a:tblPr>
              <a:tblGrid>
                <a:gridCol w="2313709">
                  <a:extLst>
                    <a:ext uri="{9D8B030D-6E8A-4147-A177-3AD203B41FA5}">
                      <a16:colId xmlns:a16="http://schemas.microsoft.com/office/drawing/2014/main" val="1773358741"/>
                    </a:ext>
                  </a:extLst>
                </a:gridCol>
                <a:gridCol w="2563091">
                  <a:extLst>
                    <a:ext uri="{9D8B030D-6E8A-4147-A177-3AD203B41FA5}">
                      <a16:colId xmlns:a16="http://schemas.microsoft.com/office/drawing/2014/main" val="272754825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970361837"/>
                    </a:ext>
                  </a:extLst>
                </a:gridCol>
                <a:gridCol w="3422073">
                  <a:extLst>
                    <a:ext uri="{9D8B030D-6E8A-4147-A177-3AD203B41FA5}">
                      <a16:colId xmlns:a16="http://schemas.microsoft.com/office/drawing/2014/main" val="3524063796"/>
                    </a:ext>
                  </a:extLst>
                </a:gridCol>
                <a:gridCol w="1454727">
                  <a:extLst>
                    <a:ext uri="{9D8B030D-6E8A-4147-A177-3AD203B41FA5}">
                      <a16:colId xmlns:a16="http://schemas.microsoft.com/office/drawing/2014/main" val="2214246742"/>
                    </a:ext>
                  </a:extLst>
                </a:gridCol>
              </a:tblGrid>
              <a:tr h="360727"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التطبيقات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العيوب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المزايا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الفكرة الأساسية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النوع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1411963"/>
                  </a:ext>
                </a:extLst>
              </a:tr>
              <a:tr h="360727">
                <a:tc>
                  <a:txBody>
                    <a:bodyPr/>
                    <a:lstStyle/>
                    <a:p>
                      <a:pPr algn="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LTE، </a:t>
                      </a: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الاتصالات الفضائية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تأخير أكبر وتعقيد أعلى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أداء ممتاز قريب من حد شانون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دمج ترميزين التفافيين مع مبدّل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Turbo Codes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5100160"/>
                  </a:ext>
                </a:extLst>
              </a:tr>
              <a:tr h="953229">
                <a:tc>
                  <a:txBody>
                    <a:bodyPr/>
                    <a:lstStyle/>
                    <a:p>
                      <a:pPr algn="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Wi-Fi 6، DVB-S2، 5G NR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يحتاج تنفيذ رياضي متقدم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كفاءة عالية وسرعة في فك الترميز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استخدام مصفوفات نادرة لتصحيح الأخطاء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LDPC Codes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5758083"/>
                  </a:ext>
                </a:extLst>
              </a:tr>
              <a:tr h="1768429">
                <a:tc>
                  <a:txBody>
                    <a:bodyPr/>
                    <a:lstStyle/>
                    <a:p>
                      <a:pPr algn="r" rtl="1"/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)5G NR </a:t>
                      </a:r>
                      <a:r>
                        <a:rPr lang="ar-SY" b="1" dirty="0">
                          <a:solidFill>
                            <a:schemeClr val="tx1"/>
                          </a:solidFill>
                        </a:rPr>
                        <a:t>التحكم –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(Control Channel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،  </a:t>
                      </a: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أنظمة اتصالات حديثة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- الأداء يتدهور في القنوات القصيرة</a:t>
                      </a:r>
                      <a:br>
                        <a:rPr lang="ar-SY" dirty="0">
                          <a:solidFill>
                            <a:schemeClr val="tx1"/>
                          </a:solidFill>
                        </a:rPr>
                      </a:b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- يحتاج اختيار دقيق لبتات التجميد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كفاءة نظرية عالية</a:t>
                      </a:r>
                    </a:p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أول كود يحقق حد شانون بدقة</a:t>
                      </a:r>
                    </a:p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فك ترميز سريع (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 </a:t>
                      </a: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أو 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SCL</a:t>
                      </a: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تعتمد على ظاهرة </a:t>
                      </a:r>
                      <a:r>
                        <a:rPr lang="ar-SY" b="1" dirty="0">
                          <a:solidFill>
                            <a:schemeClr val="tx1"/>
                          </a:solidFill>
                        </a:rPr>
                        <a:t>استقطاب القناة </a:t>
                      </a:r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Channel Polarization)</a:t>
                      </a: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ar-SY" dirty="0">
                          <a:solidFill>
                            <a:schemeClr val="tx1"/>
                          </a:solidFill>
                        </a:rPr>
                        <a:t>)لتقسيم القنوات إلى موثوقة وغير موثوقة، ثم إرسال البيانات عبر الموثوقة فقط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Polar Codes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5191796"/>
                  </a:ext>
                </a:extLst>
              </a:tr>
              <a:tr h="1172363">
                <a:tc>
                  <a:txBody>
                    <a:bodyPr/>
                    <a:lstStyle/>
                    <a:p>
                      <a:pPr algn="r" rtl="1"/>
                      <a:r>
                        <a:rPr lang="ar-SY" dirty="0"/>
                        <a:t>الأقمار الصناعية، الأقراص المدمجة </a:t>
                      </a:r>
                      <a:r>
                        <a:rPr lang="en-US" dirty="0"/>
                        <a:t>(CD/DVD)، </a:t>
                      </a:r>
                      <a:r>
                        <a:rPr lang="ar-SY" dirty="0"/>
                        <a:t>أنظمة البث الرقمي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/>
                        <a:t>تعقيد أعلى من بعض </a:t>
                      </a:r>
                      <a:r>
                        <a:rPr lang="ar-SY" dirty="0" err="1"/>
                        <a:t>الأكواد</a:t>
                      </a:r>
                      <a:r>
                        <a:rPr lang="ar-SY" dirty="0"/>
                        <a:t> البسيطة </a:t>
                      </a:r>
                      <a:endParaRPr lang="en-US" dirty="0"/>
                    </a:p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/>
                        <a:t>يحتاج طول كتلة محدد مسبقًا</a:t>
                      </a:r>
                      <a:endParaRPr lang="ar-SY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/>
                        <a:t>ممتاز لتصحيح الطفرات </a:t>
                      </a:r>
                      <a:r>
                        <a:rPr lang="en-US" dirty="0"/>
                        <a:t>(Burst Errors)</a:t>
                      </a:r>
                    </a:p>
                    <a:p>
                      <a:pPr marL="285750" indent="-285750" algn="r" rtl="1">
                        <a:buFont typeface="Arial" panose="020B0604020202020204" pitchFamily="34" charset="0"/>
                        <a:buChar char="•"/>
                      </a:pPr>
                      <a:r>
                        <a:rPr lang="ar-SY" dirty="0"/>
                        <a:t>يمكنه تصحيح عدة رموز خاطئة في الكتلة</a:t>
                      </a:r>
                      <a:endParaRPr lang="ar-SY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dirty="0"/>
                        <a:t>كود تصحيح أخطاء متعدد البتات يعتمد على الجبر الخطي فوق حقول </a:t>
                      </a:r>
                      <a:r>
                        <a:rPr lang="en-US" dirty="0"/>
                        <a:t>Galois</a:t>
                      </a:r>
                      <a:endParaRPr lang="ar-SY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Reed-Solomon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5875092"/>
                  </a:ext>
                </a:extLst>
              </a:tr>
            </a:tbl>
          </a:graphicData>
        </a:graphic>
      </p:graphicFrame>
      <p:sp>
        <p:nvSpPr>
          <p:cNvPr id="5" name="مربع نص 4"/>
          <p:cNvSpPr txBox="1"/>
          <p:nvPr/>
        </p:nvSpPr>
        <p:spPr>
          <a:xfrm>
            <a:off x="0" y="686523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sz="2000" b="1" dirty="0"/>
              <a:t>ترميز القناة (</a:t>
            </a:r>
            <a:r>
              <a:rPr lang="en-US" sz="2000" b="1" dirty="0"/>
              <a:t>Channel coding</a:t>
            </a:r>
            <a:r>
              <a:rPr lang="ar-SY" sz="2000" b="1" dirty="0"/>
              <a:t>)</a:t>
            </a:r>
            <a:endParaRPr lang="ar-SY" sz="2000" dirty="0"/>
          </a:p>
          <a:p>
            <a:pPr algn="r" rtl="1"/>
            <a:r>
              <a:rPr lang="ar-SY" sz="2000" dirty="0"/>
              <a:t>ترميز القناة يعني </a:t>
            </a:r>
            <a:r>
              <a:rPr lang="ar-SY" sz="2000" b="1" dirty="0"/>
              <a:t>إضافة بتات زائدة (</a:t>
            </a:r>
            <a:r>
              <a:rPr lang="en-US" sz="2000" b="1" dirty="0"/>
              <a:t> (redundant bits</a:t>
            </a:r>
            <a:r>
              <a:rPr lang="ar-SY" sz="2000" dirty="0"/>
              <a:t>إلى البيانات قبل الإرسال،</a:t>
            </a:r>
            <a:br>
              <a:rPr lang="ar-SY" sz="2000" dirty="0"/>
            </a:br>
            <a:r>
              <a:rPr lang="ar-SY" sz="2000" dirty="0"/>
              <a:t>بهدف </a:t>
            </a:r>
            <a:r>
              <a:rPr lang="ar-SY" sz="2000" b="1" dirty="0"/>
              <a:t>اكتشاف وتصحيح الأخطاء</a:t>
            </a:r>
            <a:r>
              <a:rPr lang="ar-SY" sz="2000" dirty="0"/>
              <a:t> الناتجة عن الضجيج أو التلاشي في القناة اللاسلكية</a:t>
            </a:r>
            <a:r>
              <a:rPr lang="ar-SY" sz="2400" dirty="0"/>
              <a:t>.</a:t>
            </a:r>
            <a:endParaRPr lang="en-US" sz="2400" b="1" dirty="0"/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A3F38DCB-4AEA-FA4F-7992-0FF7BD7F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13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0DDFA8-290C-5F49-062F-7176BD392CDE}"/>
              </a:ext>
            </a:extLst>
          </p:cNvPr>
          <p:cNvSpPr txBox="1">
            <a:spLocks/>
          </p:cNvSpPr>
          <p:nvPr/>
        </p:nvSpPr>
        <p:spPr>
          <a:xfrm>
            <a:off x="3141784" y="44398"/>
            <a:ext cx="5908431" cy="642125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النظريّة (6/3)</a:t>
            </a:r>
            <a:endParaRPr lang="en-US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156836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3103418" y="581054"/>
            <a:ext cx="9088582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Y" sz="2400" b="1" dirty="0"/>
              <a:t>ترميز الخط (</a:t>
            </a:r>
            <a:r>
              <a:rPr lang="en-US" sz="2400" b="1" dirty="0"/>
              <a:t>line coding</a:t>
            </a:r>
            <a:r>
              <a:rPr lang="ar-SY" sz="2400" b="1" dirty="0"/>
              <a:t>)</a:t>
            </a:r>
            <a:endParaRPr lang="ar-SY" sz="2400" dirty="0"/>
          </a:p>
          <a:p>
            <a:pPr algn="r" rtl="1"/>
            <a:r>
              <a:rPr lang="ar-SY" sz="2400" dirty="0"/>
              <a:t>تحويل البتات إلى إشارة رقمية مناسبة قبل التعديل (</a:t>
            </a:r>
            <a:r>
              <a:rPr lang="en-US" sz="2400" dirty="0"/>
              <a:t>modulation</a:t>
            </a:r>
            <a:r>
              <a:rPr lang="ar-SY" sz="2400" dirty="0"/>
              <a:t>).</a:t>
            </a:r>
            <a:endParaRPr lang="en-US" sz="2400" dirty="0"/>
          </a:p>
        </p:txBody>
      </p:sp>
      <p:graphicFrame>
        <p:nvGraphicFramePr>
          <p:cNvPr id="4" name="جدول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6094800"/>
              </p:ext>
            </p:extLst>
          </p:nvPr>
        </p:nvGraphicFramePr>
        <p:xfrm>
          <a:off x="169817" y="4065025"/>
          <a:ext cx="210312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14151533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4893142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512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64494369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5487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42937810"/>
                  </a:ext>
                </a:extLst>
              </a:tr>
            </a:tbl>
          </a:graphicData>
        </a:graphic>
      </p:graphicFrame>
      <p:pic>
        <p:nvPicPr>
          <p:cNvPr id="8" name="صورة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412051"/>
            <a:ext cx="12192000" cy="5445949"/>
          </a:xfrm>
          <a:prstGeom prst="rect">
            <a:avLst/>
          </a:prstGeom>
        </p:spPr>
      </p:pic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2AA1DA3-1FB4-4D0D-98E8-141567D89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14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9018804-3333-D884-A590-E2789135FAA7}"/>
              </a:ext>
            </a:extLst>
          </p:cNvPr>
          <p:cNvSpPr txBox="1">
            <a:spLocks/>
          </p:cNvSpPr>
          <p:nvPr/>
        </p:nvSpPr>
        <p:spPr>
          <a:xfrm>
            <a:off x="3141783" y="43945"/>
            <a:ext cx="5908431" cy="53710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النظريّة (6/4)</a:t>
            </a:r>
            <a:endParaRPr lang="en-US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466540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 1"/>
          <p:cNvSpPr/>
          <p:nvPr/>
        </p:nvSpPr>
        <p:spPr>
          <a:xfrm>
            <a:off x="193964" y="588724"/>
            <a:ext cx="1199803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rtl="1"/>
            <a:r>
              <a:rPr lang="ar-SY" sz="2400" b="1" dirty="0"/>
              <a:t>التعديل (</a:t>
            </a:r>
            <a:r>
              <a:rPr lang="en-US" sz="2400" b="1" dirty="0"/>
              <a:t>Modulation</a:t>
            </a:r>
            <a:r>
              <a:rPr lang="ar-SY" sz="2400" b="1" dirty="0"/>
              <a:t>)</a:t>
            </a:r>
            <a:endParaRPr lang="ar-SY" sz="2400" dirty="0"/>
          </a:p>
          <a:p>
            <a:pPr algn="r" rtl="1"/>
            <a:r>
              <a:rPr lang="ar-SY" sz="2400" dirty="0"/>
              <a:t>تحميل الإشارة الرقمية على </a:t>
            </a:r>
            <a:r>
              <a:rPr lang="ar-SY" sz="2400" b="1" dirty="0"/>
              <a:t>موجة حاملة بتردد اكبر</a:t>
            </a:r>
          </a:p>
        </p:txBody>
      </p:sp>
      <p:graphicFrame>
        <p:nvGraphicFramePr>
          <p:cNvPr id="5" name="جدول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6077368"/>
              </p:ext>
            </p:extLst>
          </p:nvPr>
        </p:nvGraphicFramePr>
        <p:xfrm>
          <a:off x="1" y="1444102"/>
          <a:ext cx="12192000" cy="4863488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314950947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4005189367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2320802700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966268459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3326495272"/>
                    </a:ext>
                  </a:extLst>
                </a:gridCol>
              </a:tblGrid>
              <a:tr h="488664"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الاستخدامات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العيوب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المزايا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الفكرة الأساسية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نوع التعديل</a:t>
                      </a: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2966149566"/>
                  </a:ext>
                </a:extLst>
              </a:tr>
              <a:tr h="865737"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أنظمة المايكروييف العسكرية، الأقمار الصناعية، روابط تجريبية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معدل بيانات منخفض (بت واحد/رمز)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بسيط جدًا، مقاوم للضجيج والتلاشي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يمثل كل بت بتغير في طور الحاملة (0° أو 180°)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BPSK (Binary Phase Shift Keying)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1652177042"/>
                  </a:ext>
                </a:extLst>
              </a:tr>
              <a:tr h="1070124"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الأنظمة</a:t>
                      </a:r>
                      <a:r>
                        <a:rPr lang="ar-SY" sz="1800" baseline="0" dirty="0">
                          <a:solidFill>
                            <a:schemeClr val="tx1"/>
                          </a:solidFill>
                        </a:rPr>
                        <a:t> التجارية</a:t>
                      </a:r>
                      <a:endParaRPr lang="ar-SY" sz="1800" dirty="0">
                        <a:solidFill>
                          <a:schemeClr val="tx1"/>
                        </a:solidFill>
                      </a:endParaRPr>
                    </a:p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Wi-Fi، WiMAX، </a:t>
                      </a:r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روابط المايكروييف الثابتة)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أكثر حساسية لأخطاء الطور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ضعف معدل البيانات مقارنة   بنفس عرض الحزمة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BPSK</a:t>
                      </a:r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ب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ar-SY" sz="1800" dirty="0">
                        <a:solidFill>
                          <a:schemeClr val="tx1"/>
                        </a:solidFill>
                      </a:endParaRP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يمثل كل رمزين بأربع أطوار مختلفة (0°, 90°, 180°, 270°)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QPSK (Quadrature PSK)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333871801"/>
                  </a:ext>
                </a:extLst>
              </a:tr>
              <a:tr h="748810"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وصلات المايكروييف الحديثة عالية السعة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يحتاج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SNR </a:t>
                      </a:r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مرتفع جدًا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كفاءة طيفية عالية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>
                          <a:solidFill>
                            <a:schemeClr val="tx1"/>
                          </a:solidFill>
                        </a:rPr>
                        <a:t>زيادة عدد مستويات الطور لتمثيل أكثر من بت في كل رمز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8PSK / 16PSK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276565103"/>
                  </a:ext>
                </a:extLst>
              </a:tr>
              <a:tr h="865737"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الأنظمة الحديثة جدًا: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LTE، 5G، </a:t>
                      </a:r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وصلات المايكروييف التجارية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أكثر حساسية للتشويه والتلاشي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أعلى كفاءة طيفية، معدلات بيانات عالية جدًا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تعديل السعة والطور معًا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16-QAM / 64-QAM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383150515"/>
                  </a:ext>
                </a:extLst>
              </a:tr>
              <a:tr h="748810"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أنظمة 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GSM، </a:t>
                      </a:r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بعض تطبيقات المايكروييف الضيقة النطاق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تعقيد أكبر في المولد والمستقبل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طيف ضيق جدًا ومناسب للقنوات المحدودة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ar-SY" sz="1800" dirty="0">
                          <a:solidFill>
                            <a:schemeClr val="tx1"/>
                          </a:solidFill>
                        </a:rPr>
                        <a:t>تعديل الطور بسلاسة بدون قفزات مفاجئة</a:t>
                      </a:r>
                    </a:p>
                  </a:txBody>
                  <a:tcPr marL="80580" marR="80580" marT="40290" marB="4029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b="1" dirty="0">
                          <a:solidFill>
                            <a:schemeClr val="tx1"/>
                          </a:solidFill>
                        </a:rPr>
                        <a:t>GMSK (Gaussian Minimum Shift Keying)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L="80580" marR="80580" marT="40290" marB="40290" anchor="ctr"/>
                </a:tc>
                <a:extLst>
                  <a:ext uri="{0D108BD9-81ED-4DB2-BD59-A6C34878D82A}">
                    <a16:rowId xmlns:a16="http://schemas.microsoft.com/office/drawing/2014/main" val="4014146252"/>
                  </a:ext>
                </a:extLst>
              </a:tr>
            </a:tbl>
          </a:graphicData>
        </a:graphic>
      </p:graphicFrame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57E336CE-68A2-2558-E67D-D3C217ED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15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1B9B25E-64B5-F87D-37F6-63CF8D4CE619}"/>
              </a:ext>
            </a:extLst>
          </p:cNvPr>
          <p:cNvSpPr txBox="1">
            <a:spLocks/>
          </p:cNvSpPr>
          <p:nvPr/>
        </p:nvSpPr>
        <p:spPr>
          <a:xfrm>
            <a:off x="3141784" y="136523"/>
            <a:ext cx="5908431" cy="53710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النظريّة (6/5)</a:t>
            </a:r>
            <a:endParaRPr lang="en-US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8812714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29FDE-9DB1-3059-82DF-7BA7AF742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مربع نص 2"/>
          <p:cNvSpPr txBox="1"/>
          <p:nvPr/>
        </p:nvSpPr>
        <p:spPr>
          <a:xfrm>
            <a:off x="0" y="679420"/>
            <a:ext cx="121920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Y" sz="2800" b="1" dirty="0"/>
              <a:t>نوع القناة (</a:t>
            </a:r>
            <a:r>
              <a:rPr lang="en-US" sz="2800" b="1" dirty="0"/>
              <a:t>Channel type </a:t>
            </a:r>
            <a:r>
              <a:rPr lang="ar-SY" sz="2800" b="1" dirty="0"/>
              <a:t>) </a:t>
            </a:r>
            <a:endParaRPr lang="ar-SY" sz="2800" dirty="0"/>
          </a:p>
          <a:p>
            <a:pPr lvl="0" algn="r" defTabSz="9144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SY" sz="2400" dirty="0"/>
              <a:t>في منظومات </a:t>
            </a:r>
            <a:r>
              <a:rPr lang="ar-SY" sz="2400" b="1" dirty="0"/>
              <a:t>الاتصالات الميكروية (</a:t>
            </a:r>
            <a:r>
              <a:rPr lang="en-US" sz="2400" b="1" dirty="0"/>
              <a:t>(Microwave</a:t>
            </a:r>
            <a:r>
              <a:rPr lang="en-US" sz="2400" dirty="0"/>
              <a:t>، </a:t>
            </a:r>
            <a:r>
              <a:rPr lang="ar-SY" sz="2400" dirty="0"/>
              <a:t>الإشارة تنتقل غالبًا في بيئة فيها </a:t>
            </a:r>
            <a:r>
              <a:rPr lang="ar-SY" sz="2400" b="1" dirty="0"/>
              <a:t>انعكاسات</a:t>
            </a:r>
            <a:r>
              <a:rPr lang="ar-SY" sz="2400" dirty="0"/>
              <a:t> و</a:t>
            </a:r>
            <a:r>
              <a:rPr lang="ar-SY" sz="2400" b="1" dirty="0"/>
              <a:t>تشتت</a:t>
            </a:r>
            <a:r>
              <a:rPr lang="ar-SY" sz="2400" dirty="0"/>
              <a:t> و</a:t>
            </a:r>
            <a:r>
              <a:rPr lang="ar-SY" sz="2400" b="1" dirty="0"/>
              <a:t>تعدد مسارات (</a:t>
            </a:r>
            <a:r>
              <a:rPr lang="en-US" sz="2400" b="1" dirty="0"/>
              <a:t>(Multipath</a:t>
            </a:r>
            <a:br>
              <a:rPr lang="en-US" sz="2400" dirty="0"/>
            </a:b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graphicFrame>
        <p:nvGraphicFramePr>
          <p:cNvPr id="7" name="جدول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3624991"/>
              </p:ext>
            </p:extLst>
          </p:nvPr>
        </p:nvGraphicFramePr>
        <p:xfrm>
          <a:off x="-2" y="2041707"/>
          <a:ext cx="12192000" cy="4816290"/>
        </p:xfrm>
        <a:graphic>
          <a:graphicData uri="http://schemas.openxmlformats.org/drawingml/2006/table">
            <a:tbl>
              <a:tblPr firstRow="1" lastCol="1" bandRow="1">
                <a:tableStyleId>{5C22544A-7EE6-4342-B048-85BDC9FD1C3A}</a:tableStyleId>
              </a:tblPr>
              <a:tblGrid>
                <a:gridCol w="4835236">
                  <a:extLst>
                    <a:ext uri="{9D8B030D-6E8A-4147-A177-3AD203B41FA5}">
                      <a16:colId xmlns:a16="http://schemas.microsoft.com/office/drawing/2014/main" val="1845936592"/>
                    </a:ext>
                  </a:extLst>
                </a:gridCol>
                <a:gridCol w="4405746">
                  <a:extLst>
                    <a:ext uri="{9D8B030D-6E8A-4147-A177-3AD203B41FA5}">
                      <a16:colId xmlns:a16="http://schemas.microsoft.com/office/drawing/2014/main" val="774946593"/>
                    </a:ext>
                  </a:extLst>
                </a:gridCol>
                <a:gridCol w="2951018">
                  <a:extLst>
                    <a:ext uri="{9D8B030D-6E8A-4147-A177-3AD203B41FA5}">
                      <a16:colId xmlns:a16="http://schemas.microsoft.com/office/drawing/2014/main" val="328057425"/>
                    </a:ext>
                  </a:extLst>
                </a:gridCol>
              </a:tblGrid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Rician Fading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Rayleigh Fading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الخاصية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4473562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موجود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غير موجود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المسار المباشر (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LOS</a:t>
                      </a:r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08617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ريفية أو </a:t>
                      </a:r>
                      <a:r>
                        <a:rPr lang="en-US" sz="2000" dirty="0"/>
                        <a:t>Line-of-Sight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حضرية مليئة بالعوائق </a:t>
                      </a:r>
                      <a:r>
                        <a:rPr lang="en-US" sz="2000" dirty="0"/>
                        <a:t>Non-LOS)</a:t>
                      </a:r>
                      <a:r>
                        <a:rPr lang="ar-SY" sz="2000" dirty="0"/>
                        <a:t>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البيئة النموذجية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0427414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انعكاسات + مسار مباشر قوي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مجموع انعكاسات فقط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مكونات الإشارة المستقبلة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05612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en-US" sz="2000" dirty="0"/>
                        <a:t>K&gt;0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 </a:t>
                      </a:r>
                      <a:r>
                        <a:rPr lang="en-US" sz="2000" dirty="0"/>
                        <a:t>K=0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معامل </a:t>
                      </a:r>
                      <a:r>
                        <a:rPr lang="en-US" sz="2000" dirty="0">
                          <a:solidFill>
                            <a:schemeClr val="tx1"/>
                          </a:solidFill>
                        </a:rPr>
                        <a:t>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789369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الإشارة أكثر استقرارًا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قوة الإشارة تتذبذب بشدة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الاستقبال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0791226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أعقد، يعتمد على قيمة </a:t>
                      </a:r>
                      <a:r>
                        <a:rPr lang="en-US" sz="2000" dirty="0"/>
                        <a:t>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أبسط (حالة خاصة من </a:t>
                      </a:r>
                      <a:r>
                        <a:rPr lang="en-US" sz="2000" dirty="0"/>
                        <a:t>Rician)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التحليل الرياضي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1414306"/>
                  </a:ext>
                </a:extLst>
              </a:tr>
              <a:tr h="692682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في الوصلات الموجهة (</a:t>
                      </a:r>
                      <a:r>
                        <a:rPr lang="en-US" sz="2000" dirty="0"/>
                        <a:t>Point-to-Point Microwave</a:t>
                      </a:r>
                      <a:r>
                        <a:rPr lang="ar-SY" sz="2000" dirty="0"/>
                        <a:t>)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في الروابط المتعددة المسارات بدون رؤية مباشرة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الظهور في أنظمة المايكروييف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4932836"/>
                  </a:ext>
                </a:extLst>
              </a:tr>
              <a:tr h="515451"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أفضل بسبب وجود مسار ثابت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/>
                        <a:t>أسوأ بسبب التلاشي العميق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 rtl="1"/>
                      <a:r>
                        <a:rPr lang="ar-SY" sz="2000" dirty="0">
                          <a:solidFill>
                            <a:schemeClr val="tx1"/>
                          </a:solidFill>
                        </a:rPr>
                        <a:t>الأداء العام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66336555"/>
                  </a:ext>
                </a:extLst>
              </a:tr>
            </a:tbl>
          </a:graphicData>
        </a:graphic>
      </p:graphicFrame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5E3C2F2B-725D-A956-7C3E-CAC9671F4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FF85EF-D2F3-4AD0-ACF1-AA083CF155F0}"/>
              </a:ext>
            </a:extLst>
          </p:cNvPr>
          <p:cNvSpPr txBox="1">
            <a:spLocks/>
          </p:cNvSpPr>
          <p:nvPr/>
        </p:nvSpPr>
        <p:spPr>
          <a:xfrm>
            <a:off x="3141783" y="102644"/>
            <a:ext cx="5908431" cy="53710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الأساسيات النظريّة (6/6)</a:t>
            </a:r>
            <a:endParaRPr lang="en-US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79110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6F59572-5EE0-661F-D178-C4CD9CCDFB40}"/>
              </a:ext>
            </a:extLst>
          </p:cNvPr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المشكلة التي يعالجها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خطوات تنفيذ المشروع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27A7ABEA-3124-A8E1-9C4E-ACD83364C3FC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EA93BB7F-5675-CE3A-DF9C-C966EF4BC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5467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942ED-0394-BE94-354F-698F470A7896}"/>
              </a:ext>
            </a:extLst>
          </p:cNvPr>
          <p:cNvSpPr txBox="1">
            <a:spLocks/>
          </p:cNvSpPr>
          <p:nvPr/>
        </p:nvSpPr>
        <p:spPr>
          <a:xfrm>
            <a:off x="4010296" y="1825625"/>
            <a:ext cx="7343503" cy="1779724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Y" dirty="0"/>
              <a:t>تم بناء نموذج محاكاة كامل باستخدام </a:t>
            </a:r>
            <a:r>
              <a:rPr lang="en-US" dirty="0"/>
              <a:t>.Simulink</a:t>
            </a:r>
          </a:p>
          <a:p>
            <a:pPr algn="r" rtl="1"/>
            <a:r>
              <a:rPr lang="ar-SY" dirty="0"/>
              <a:t>تطبيق التعديلات المختلفة مع وبدون ترميز </a:t>
            </a:r>
            <a:r>
              <a:rPr lang="en-US" dirty="0"/>
              <a:t>.LDPC</a:t>
            </a:r>
          </a:p>
          <a:p>
            <a:pPr algn="r" rtl="1"/>
            <a:r>
              <a:rPr lang="ar-SY" dirty="0"/>
              <a:t>اختبار الأداء تحت قنوات </a:t>
            </a:r>
            <a:r>
              <a:rPr lang="en-US" dirty="0"/>
              <a:t>AWGN </a:t>
            </a:r>
            <a:r>
              <a:rPr lang="ar-SY" dirty="0"/>
              <a:t> و </a:t>
            </a:r>
            <a:r>
              <a:rPr lang="en-US" dirty="0"/>
              <a:t>.Rayleigh</a:t>
            </a:r>
          </a:p>
        </p:txBody>
      </p:sp>
      <p:sp>
        <p:nvSpPr>
          <p:cNvPr id="4" name="مربع نص 3">
            <a:extLst>
              <a:ext uri="{FF2B5EF4-FFF2-40B4-BE49-F238E27FC236}">
                <a16:creationId xmlns:a16="http://schemas.microsoft.com/office/drawing/2014/main" id="{CA2486ED-44F0-0B4C-96A4-0F1E60D44A71}"/>
              </a:ext>
            </a:extLst>
          </p:cNvPr>
          <p:cNvSpPr txBox="1"/>
          <p:nvPr/>
        </p:nvSpPr>
        <p:spPr>
          <a:xfrm>
            <a:off x="1396635" y="4712677"/>
            <a:ext cx="9398727" cy="523220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 algn="r" rtl="1">
              <a:buFont typeface="Arial" panose="020B0604020202020204" pitchFamily="34" charset="0"/>
              <a:buChar char="•"/>
            </a:pPr>
            <a:r>
              <a:rPr lang="ar-SY" sz="2800" dirty="0"/>
              <a:t>سيتم رؤية بعض من التطبيقات العملية التي تم تنفيذها على برنامج </a:t>
            </a:r>
            <a:r>
              <a:rPr lang="en-US" sz="2800" dirty="0"/>
              <a:t>Simulink</a:t>
            </a:r>
            <a:r>
              <a:rPr lang="ar-SY" sz="2800" dirty="0"/>
              <a:t> .</a:t>
            </a:r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12BB0EA7-FDAE-4989-A248-B9AE1603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18</a:t>
            </a:fld>
            <a:endParaRPr 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05B24A40-7E0B-936C-634F-584564781113}"/>
              </a:ext>
            </a:extLst>
          </p:cNvPr>
          <p:cNvSpPr txBox="1"/>
          <p:nvPr/>
        </p:nvSpPr>
        <p:spPr>
          <a:xfrm>
            <a:off x="2426280" y="494923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(9/1)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5454246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14276515-12CE-30E7-E542-ECFF71246EE6}"/>
              </a:ext>
            </a:extLst>
          </p:cNvPr>
          <p:cNvSpPr txBox="1">
            <a:spLocks/>
          </p:cNvSpPr>
          <p:nvPr/>
        </p:nvSpPr>
        <p:spPr>
          <a:xfrm>
            <a:off x="1410788" y="756006"/>
            <a:ext cx="9627325" cy="8758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b="1" dirty="0"/>
              <a:t>UNCODING +BPSK +MULTIPATH</a:t>
            </a:r>
            <a:endParaRPr lang="ar-SY" b="1" dirty="0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8F67EDE2-23AF-F4BE-9C3E-C9B060C34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34906"/>
            <a:ext cx="12192000" cy="5423094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4576198B-AC20-E94A-B019-0E6178D6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DAD006D4-854C-9D07-0F0E-23AB1B2B085F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(9/2)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4922393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5BB189B-EDA5-69EE-13AE-F87923CBCBD3}"/>
              </a:ext>
            </a:extLst>
          </p:cNvPr>
          <p:cNvSpPr txBox="1">
            <a:spLocks/>
          </p:cNvSpPr>
          <p:nvPr/>
        </p:nvSpPr>
        <p:spPr>
          <a:xfrm>
            <a:off x="1282337" y="957108"/>
            <a:ext cx="9627325" cy="87584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ar-SY" dirty="0"/>
              <a:t>LDPC+BPSK+CRC+MULTIPATH</a:t>
            </a:r>
          </a:p>
        </p:txBody>
      </p:sp>
      <p:pic>
        <p:nvPicPr>
          <p:cNvPr id="8" name="صورة 7">
            <a:extLst>
              <a:ext uri="{FF2B5EF4-FFF2-40B4-BE49-F238E27FC236}">
                <a16:creationId xmlns:a16="http://schemas.microsoft.com/office/drawing/2014/main" id="{8549AF94-8E30-65BA-AF17-9C57588602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969476"/>
            <a:ext cx="12192000" cy="4888523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3410AE60-C2F6-138F-E5E2-CE6677B96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20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E66542-16D7-9ECE-4A12-EA66BE2C55BB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(9/3)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879134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55477-7C4A-7415-22CF-F94BB777E260}"/>
              </a:ext>
            </a:extLst>
          </p:cNvPr>
          <p:cNvSpPr txBox="1">
            <a:spLocks/>
          </p:cNvSpPr>
          <p:nvPr/>
        </p:nvSpPr>
        <p:spPr>
          <a:xfrm>
            <a:off x="838200" y="2438186"/>
            <a:ext cx="10515600" cy="198162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ar-SY" sz="5400" b="1" dirty="0"/>
              <a:t>النتائج </a:t>
            </a:r>
          </a:p>
          <a:p>
            <a:pPr algn="ctr" rtl="1"/>
            <a:r>
              <a:rPr lang="en-US" sz="5400" b="1" dirty="0"/>
              <a:t>BER </a:t>
            </a:r>
            <a:r>
              <a:rPr lang="ar-SY" sz="5400" b="1" dirty="0"/>
              <a:t> مقابل </a:t>
            </a:r>
            <a:r>
              <a:rPr lang="en-US" sz="5400" b="1" dirty="0"/>
              <a:t>SNR</a:t>
            </a: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13B1C934-69F6-592D-22AB-470AE5CFD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18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587B4BB8-4537-FA09-6084-3801A49E0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1"/>
            <a:ext cx="12192000" cy="6211668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051D1CE5-2228-B4A5-D719-D809F12FA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FDDF16ED-BA90-A798-E269-21180E93737C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(9/4)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12163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A25BC31C-57C2-8863-6ACF-399EA880A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2"/>
            <a:ext cx="12192000" cy="6211668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46F30579-846D-D65F-548F-C49282026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7A91DD96-B2AE-1FF9-7EF1-D38384A5AC08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(9/5)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96729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4F1FF2DF-8CA8-7EE4-6767-3C703BA12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1"/>
            <a:ext cx="12192000" cy="6211669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35FD5C0C-D165-A708-CEE1-12AAA42EB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B009A6D3-9A5E-1712-8BFE-82EB1E2A3E5B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(9/6)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2938723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69394343-BDFE-EA3B-32C9-8212048ED1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6332"/>
            <a:ext cx="12192000" cy="6211668"/>
          </a:xfrm>
          <a:prstGeom prst="rect">
            <a:avLst/>
          </a:prstGeom>
        </p:spPr>
      </p:pic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EEA30FFC-B54B-1736-D770-3C478F44E5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25</a:t>
            </a:fld>
            <a:endParaRPr lang="en-US"/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8B91DBFD-7D38-4869-C97B-A3D2608DD386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(9/7)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4057645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C6DF4B1-AD5C-C7E5-C5CE-19221214D04D}"/>
              </a:ext>
            </a:extLst>
          </p:cNvPr>
          <p:cNvSpPr txBox="1">
            <a:spLocks/>
          </p:cNvSpPr>
          <p:nvPr/>
        </p:nvSpPr>
        <p:spPr>
          <a:xfrm>
            <a:off x="9411286" y="704691"/>
            <a:ext cx="1942514" cy="74622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rtl="1"/>
            <a:r>
              <a:rPr lang="ar-SY" b="1" dirty="0"/>
              <a:t>النتائج :</a:t>
            </a:r>
            <a:endParaRPr lang="en-US" b="1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B1D67DF-F693-EDAB-E6C0-C6571A11690F}"/>
              </a:ext>
            </a:extLst>
          </p:cNvPr>
          <p:cNvSpPr txBox="1">
            <a:spLocks/>
          </p:cNvSpPr>
          <p:nvPr/>
        </p:nvSpPr>
        <p:spPr>
          <a:xfrm>
            <a:off x="838200" y="1450914"/>
            <a:ext cx="10515600" cy="545695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Y" dirty="0"/>
              <a:t>انخفاض </a:t>
            </a:r>
            <a:r>
              <a:rPr lang="en-US" dirty="0"/>
              <a:t>BER </a:t>
            </a:r>
            <a:r>
              <a:rPr lang="ar-SY" dirty="0"/>
              <a:t> مع زيادة </a:t>
            </a:r>
            <a:r>
              <a:rPr lang="en-US" dirty="0"/>
              <a:t>SNR</a:t>
            </a:r>
            <a:r>
              <a:rPr lang="ar-SY" dirty="0"/>
              <a:t> .</a:t>
            </a:r>
            <a:endParaRPr lang="en-US" dirty="0"/>
          </a:p>
          <a:p>
            <a:pPr algn="r" rtl="1"/>
            <a:r>
              <a:rPr lang="ar-SY" dirty="0"/>
              <a:t>أداء </a:t>
            </a:r>
            <a:r>
              <a:rPr lang="en-US" dirty="0"/>
              <a:t>BPSK </a:t>
            </a:r>
            <a:r>
              <a:rPr lang="ar-SY" dirty="0"/>
              <a:t> أفضل عند </a:t>
            </a:r>
            <a:r>
              <a:rPr lang="en-US" dirty="0"/>
              <a:t> SNR </a:t>
            </a:r>
            <a:r>
              <a:rPr lang="ar-SY" dirty="0"/>
              <a:t>منخفض .</a:t>
            </a:r>
          </a:p>
          <a:p>
            <a:pPr algn="r" rtl="1"/>
            <a:r>
              <a:rPr lang="ar-SY" dirty="0"/>
              <a:t>تحسن واضح عند استخدام ترميز </a:t>
            </a:r>
            <a:r>
              <a:rPr lang="en-US" dirty="0"/>
              <a:t>. LDPC</a:t>
            </a:r>
          </a:p>
          <a:p>
            <a:pPr algn="r" rtl="1"/>
            <a:r>
              <a:rPr lang="ar-SY" dirty="0"/>
              <a:t>تمت محاولة إضافة ترميز </a:t>
            </a:r>
            <a:r>
              <a:rPr lang="en-US" dirty="0"/>
              <a:t>Polar </a:t>
            </a:r>
            <a:r>
              <a:rPr lang="ar-SY" dirty="0"/>
              <a:t> إلى المنظومة بهدف المقارنة مع </a:t>
            </a:r>
            <a:r>
              <a:rPr lang="en-US" dirty="0"/>
              <a:t>LDPC،</a:t>
            </a:r>
            <a:br>
              <a:rPr lang="en-US" dirty="0"/>
            </a:br>
            <a:r>
              <a:rPr lang="ar-SY" dirty="0"/>
              <a:t>إلا أن التطبيق العملي في بيئة </a:t>
            </a:r>
            <a:r>
              <a:rPr lang="en-US" dirty="0"/>
              <a:t>Simulink </a:t>
            </a:r>
            <a:r>
              <a:rPr lang="ar-SY" dirty="0"/>
              <a:t> واجه صعوبات تقنية كبيرة.</a:t>
            </a:r>
          </a:p>
          <a:p>
            <a:pPr algn="r" rtl="1"/>
            <a:r>
              <a:rPr lang="ar-SY" dirty="0"/>
              <a:t>ترميز </a:t>
            </a:r>
            <a:r>
              <a:rPr lang="en-US" dirty="0"/>
              <a:t>Polar </a:t>
            </a:r>
            <a:r>
              <a:rPr lang="ar-SY" dirty="0"/>
              <a:t> في </a:t>
            </a:r>
            <a:r>
              <a:rPr lang="en-US" dirty="0"/>
              <a:t>:MATLAB/Simulink</a:t>
            </a:r>
          </a:p>
          <a:p>
            <a:pPr lvl="1" algn="r" rtl="1"/>
            <a:r>
              <a:rPr lang="ar-SY" sz="2800" dirty="0"/>
              <a:t>غير متكامل بالكامل مع سلاسل </a:t>
            </a:r>
            <a:r>
              <a:rPr lang="en-US" sz="2800" b="1" dirty="0"/>
              <a:t>Baseband + Multipath + Doppler</a:t>
            </a:r>
            <a:endParaRPr lang="en-US" sz="2800" dirty="0"/>
          </a:p>
          <a:p>
            <a:pPr lvl="1" algn="r" rtl="1"/>
            <a:r>
              <a:rPr lang="ar-SY" sz="2800" dirty="0"/>
              <a:t>يعتمد غالبًا على </a:t>
            </a:r>
            <a:r>
              <a:rPr lang="en-US" sz="2800" b="1" dirty="0"/>
              <a:t>Soft-input Soft-output</a:t>
            </a:r>
            <a:endParaRPr lang="en-US" sz="2800" dirty="0"/>
          </a:p>
          <a:p>
            <a:pPr algn="r" rtl="1"/>
            <a:r>
              <a:rPr lang="ar-SY" dirty="0"/>
              <a:t>في حين أن منظومتنا مبنية أساسًا على:</a:t>
            </a:r>
          </a:p>
          <a:p>
            <a:pPr lvl="1" algn="r" rtl="1"/>
            <a:r>
              <a:rPr lang="en-US" sz="2800" b="1" dirty="0"/>
              <a:t>Hard Decision Demodulation</a:t>
            </a:r>
            <a:endParaRPr lang="en-US" sz="2800" dirty="0"/>
          </a:p>
          <a:p>
            <a:pPr lvl="1" algn="r" rtl="1"/>
            <a:r>
              <a:rPr lang="ar-SY" sz="2800" dirty="0"/>
              <a:t>نماذج قناة </a:t>
            </a:r>
            <a:r>
              <a:rPr lang="en-US" sz="2800" dirty="0"/>
              <a:t> Rayleigh Multipath </a:t>
            </a:r>
            <a:r>
              <a:rPr lang="ar-SY" sz="2800" dirty="0"/>
              <a:t>واقعية</a:t>
            </a:r>
          </a:p>
          <a:p>
            <a:pPr algn="r" rtl="1"/>
            <a:endParaRPr lang="en-US" dirty="0"/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8999BB62-649F-54E4-21C4-DC269D05FB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26</a:t>
            </a:fld>
            <a:endParaRPr lang="en-US"/>
          </a:p>
        </p:txBody>
      </p:sp>
      <p:sp>
        <p:nvSpPr>
          <p:cNvPr id="7" name="TextBox 3">
            <a:extLst>
              <a:ext uri="{FF2B5EF4-FFF2-40B4-BE49-F238E27FC236}">
                <a16:creationId xmlns:a16="http://schemas.microsoft.com/office/drawing/2014/main" id="{D5B25BA2-3D17-8972-6F7B-56E770903546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(9/8)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337898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44576"/>
            <a:ext cx="10515600" cy="1325563"/>
          </a:xfrm>
        </p:spPr>
        <p:txBody>
          <a:bodyPr/>
          <a:lstStyle/>
          <a:p>
            <a:pPr algn="r" rtl="1"/>
            <a:r>
              <a:rPr b="1" dirty="0" err="1"/>
              <a:t>الاستنتاجات</a:t>
            </a:r>
            <a:r>
              <a:rPr lang="ar-SY" b="1" dirty="0"/>
              <a:t>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06662"/>
            <a:ext cx="10515600" cy="4351338"/>
          </a:xfrm>
        </p:spPr>
        <p:txBody>
          <a:bodyPr/>
          <a:lstStyle/>
          <a:p>
            <a:pPr algn="r" rtl="1"/>
            <a:r>
              <a:rPr dirty="0" err="1"/>
              <a:t>نوع</a:t>
            </a:r>
            <a:r>
              <a:rPr dirty="0"/>
              <a:t> </a:t>
            </a:r>
            <a:r>
              <a:rPr dirty="0" err="1"/>
              <a:t>التعديل</a:t>
            </a:r>
            <a:r>
              <a:rPr dirty="0"/>
              <a:t> </a:t>
            </a:r>
            <a:r>
              <a:rPr dirty="0" err="1"/>
              <a:t>يؤثر</a:t>
            </a:r>
            <a:r>
              <a:rPr dirty="0"/>
              <a:t> </a:t>
            </a:r>
            <a:r>
              <a:rPr dirty="0" err="1"/>
              <a:t>بشكل</a:t>
            </a:r>
            <a:r>
              <a:rPr dirty="0"/>
              <a:t> </a:t>
            </a:r>
            <a:r>
              <a:rPr dirty="0" err="1"/>
              <a:t>مباشر</a:t>
            </a:r>
            <a:r>
              <a:rPr dirty="0"/>
              <a:t> </a:t>
            </a:r>
            <a:r>
              <a:rPr dirty="0" err="1"/>
              <a:t>على</a:t>
            </a:r>
            <a:r>
              <a:rPr dirty="0"/>
              <a:t> </a:t>
            </a:r>
            <a:r>
              <a:rPr dirty="0" err="1"/>
              <a:t>أداء</a:t>
            </a:r>
            <a:r>
              <a:rPr dirty="0"/>
              <a:t> </a:t>
            </a:r>
            <a:r>
              <a:rPr dirty="0" err="1"/>
              <a:t>المنظومة</a:t>
            </a:r>
            <a:r>
              <a:rPr dirty="0"/>
              <a:t>.</a:t>
            </a:r>
          </a:p>
          <a:p>
            <a:pPr algn="r" rtl="1"/>
            <a:r>
              <a:rPr dirty="0" err="1"/>
              <a:t>قناة</a:t>
            </a:r>
            <a:r>
              <a:rPr dirty="0"/>
              <a:t> Rayleigh </a:t>
            </a:r>
            <a:r>
              <a:rPr dirty="0" err="1"/>
              <a:t>أسوأ</a:t>
            </a:r>
            <a:r>
              <a:rPr dirty="0"/>
              <a:t> </a:t>
            </a:r>
            <a:r>
              <a:rPr dirty="0" err="1"/>
              <a:t>من</a:t>
            </a:r>
            <a:r>
              <a:rPr dirty="0"/>
              <a:t> AWGN </a:t>
            </a:r>
            <a:r>
              <a:rPr dirty="0" err="1"/>
              <a:t>من</a:t>
            </a:r>
            <a:r>
              <a:rPr dirty="0"/>
              <a:t> </a:t>
            </a:r>
            <a:r>
              <a:rPr dirty="0" err="1"/>
              <a:t>حيث</a:t>
            </a:r>
            <a:r>
              <a:rPr dirty="0"/>
              <a:t> BER</a:t>
            </a:r>
            <a:r>
              <a:rPr lang="ar-SY" dirty="0"/>
              <a:t>.</a:t>
            </a:r>
            <a:endParaRPr dirty="0"/>
          </a:p>
          <a:p>
            <a:pPr algn="r" rtl="1"/>
            <a:r>
              <a:rPr dirty="0" err="1"/>
              <a:t>ترميز</a:t>
            </a:r>
            <a:r>
              <a:rPr dirty="0"/>
              <a:t> LDPC </a:t>
            </a:r>
            <a:r>
              <a:rPr dirty="0" err="1"/>
              <a:t>عنصر</a:t>
            </a:r>
            <a:r>
              <a:rPr dirty="0"/>
              <a:t> </a:t>
            </a:r>
            <a:r>
              <a:rPr dirty="0" err="1"/>
              <a:t>أساسي</a:t>
            </a:r>
            <a:r>
              <a:rPr dirty="0"/>
              <a:t> </a:t>
            </a:r>
            <a:r>
              <a:rPr dirty="0" err="1"/>
              <a:t>لتحسين</a:t>
            </a:r>
            <a:r>
              <a:rPr dirty="0"/>
              <a:t> </a:t>
            </a:r>
            <a:r>
              <a:rPr dirty="0" err="1"/>
              <a:t>الاعتمادية</a:t>
            </a:r>
            <a:r>
              <a:rPr dirty="0"/>
              <a:t>.</a:t>
            </a: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1F90F743-C071-8451-AD0C-AA3835D67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BDE37CD7-4EF1-D160-F99F-B2415A162EE2}"/>
              </a:ext>
            </a:extLst>
          </p:cNvPr>
          <p:cNvSpPr txBox="1"/>
          <p:nvPr/>
        </p:nvSpPr>
        <p:spPr>
          <a:xfrm>
            <a:off x="2426282" y="0"/>
            <a:ext cx="73394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3600" b="1" dirty="0">
                <a:latin typeface="Simplified Arabic" pitchFamily="18" charset="-78"/>
                <a:cs typeface="Simplified Arabic" pitchFamily="18" charset="-78"/>
              </a:rPr>
              <a:t>التنفيذ العملي الحالي والنتائج (9/9)</a:t>
            </a:r>
            <a:endParaRPr lang="en-US" sz="3600" b="1" dirty="0">
              <a:latin typeface="Simplified Arabic" pitchFamily="18" charset="-78"/>
              <a:cs typeface="Simplified Arabic" pitchFamily="18" charset="-78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79AE7-75FF-EDB8-31C0-F48290F28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6F1AF67-047A-D313-DD68-2FF6305412BF}"/>
              </a:ext>
            </a:extLst>
          </p:cNvPr>
          <p:cNvSpPr txBox="1">
            <a:spLocks/>
          </p:cNvSpPr>
          <p:nvPr/>
        </p:nvSpPr>
        <p:spPr>
          <a:xfrm>
            <a:off x="4223084" y="1387532"/>
            <a:ext cx="6019940" cy="4482803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هدف المشروع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المشكلة التي يعالجها المشروع وأهميته</a:t>
            </a:r>
          </a:p>
          <a:p>
            <a:pPr algn="r" rtl="1">
              <a:lnSpc>
                <a:spcPct val="150000"/>
              </a:lnSpc>
            </a:pPr>
            <a:r>
              <a:rPr lang="ar-SY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خطوات تنفيذ المشروع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الأساسيات النظرية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solidFill>
                  <a:schemeClr val="bg1">
                    <a:lumMod val="75000"/>
                  </a:schemeClr>
                </a:solidFill>
                <a:latin typeface="Simplified Arabic" pitchFamily="18" charset="-78"/>
                <a:cs typeface="Simplified Arabic" pitchFamily="18" charset="-78"/>
              </a:rPr>
              <a:t>التنفيذ العملي والنتائج</a:t>
            </a:r>
          </a:p>
          <a:p>
            <a:pPr algn="r" rtl="1">
              <a:lnSpc>
                <a:spcPct val="150000"/>
              </a:lnSpc>
            </a:pPr>
            <a:r>
              <a:rPr lang="ar-SY" b="1" dirty="0">
                <a:latin typeface="Simplified Arabic" pitchFamily="18" charset="-78"/>
                <a:cs typeface="Simplified Arabic" pitchFamily="18" charset="-78"/>
              </a:rPr>
              <a:t>العمل المستقبلي</a:t>
            </a:r>
          </a:p>
          <a:p>
            <a:pPr algn="r" rtl="1">
              <a:lnSpc>
                <a:spcPct val="150000"/>
              </a:lnSpc>
            </a:pPr>
            <a:endParaRPr lang="ar-SY" b="1" dirty="0"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42162A9C-D566-D0CC-9E13-70D7F66165E4}"/>
              </a:ext>
            </a:extLst>
          </p:cNvPr>
          <p:cNvSpPr txBox="1"/>
          <p:nvPr/>
        </p:nvSpPr>
        <p:spPr>
          <a:xfrm>
            <a:off x="2129513" y="266351"/>
            <a:ext cx="733943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ar-SY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implified Arabic" pitchFamily="18" charset="-78"/>
                <a:cs typeface="Simplified Arabic" pitchFamily="18" charset="-78"/>
              </a:rPr>
              <a:t>مخطط العرض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implified Arabic" pitchFamily="18" charset="-78"/>
              <a:cs typeface="Simplified Arabic" pitchFamily="18" charset="-78"/>
            </a:endParaRPr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45D63513-D54F-0892-FA7A-0127256A8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169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78F2FFC-AF0F-BCA1-9D73-3472C7502DF2}"/>
              </a:ext>
            </a:extLst>
          </p:cNvPr>
          <p:cNvSpPr txBox="1">
            <a:spLocks/>
          </p:cNvSpPr>
          <p:nvPr/>
        </p:nvSpPr>
        <p:spPr>
          <a:xfrm>
            <a:off x="4029514" y="437405"/>
            <a:ext cx="4132971" cy="81592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rtl="1"/>
            <a:r>
              <a:rPr lang="ar-SY" sz="4800" b="1" dirty="0"/>
              <a:t>العمل المستقبلي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AB02746-BD56-CFF7-84D9-168508724ADA}"/>
              </a:ext>
            </a:extLst>
          </p:cNvPr>
          <p:cNvSpPr txBox="1">
            <a:spLocks/>
          </p:cNvSpPr>
          <p:nvPr/>
        </p:nvSpPr>
        <p:spPr>
          <a:xfrm>
            <a:off x="838199" y="2522036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SY" dirty="0"/>
              <a:t>إكمال المحاكاة لباقي التراميزات (</a:t>
            </a:r>
            <a:r>
              <a:rPr lang="en-US" dirty="0"/>
              <a:t>(Reed-Solomon code_ Turbo Codes</a:t>
            </a:r>
            <a:endParaRPr lang="ar-SY" dirty="0"/>
          </a:p>
          <a:p>
            <a:pPr algn="r" rtl="1"/>
            <a:r>
              <a:rPr lang="ar-SY" dirty="0"/>
              <a:t>إكمال المحاكاة في النطاق </a:t>
            </a:r>
            <a:r>
              <a:rPr lang="en-US" dirty="0"/>
              <a:t>Passband</a:t>
            </a:r>
            <a:r>
              <a:rPr lang="ar-SY" dirty="0"/>
              <a:t> ان امكن.</a:t>
            </a:r>
            <a:endParaRPr lang="en-US" dirty="0"/>
          </a:p>
          <a:p>
            <a:pPr algn="r" rtl="1"/>
            <a:r>
              <a:rPr lang="ar-SY" dirty="0"/>
              <a:t>ربط النتائج مع نماذج </a:t>
            </a:r>
            <a:r>
              <a:rPr lang="en-US" dirty="0"/>
              <a:t>Path Loss </a:t>
            </a:r>
            <a:r>
              <a:rPr lang="ar-SY" dirty="0"/>
              <a:t> حقيقية.</a:t>
            </a:r>
          </a:p>
        </p:txBody>
      </p:sp>
      <p:sp>
        <p:nvSpPr>
          <p:cNvPr id="2" name="عنصر نائب لرقم الشريحة 1">
            <a:extLst>
              <a:ext uri="{FF2B5EF4-FFF2-40B4-BE49-F238E27FC236}">
                <a16:creationId xmlns:a16="http://schemas.microsoft.com/office/drawing/2014/main" id="{8C538120-2D67-630C-544E-A7FF33A02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95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984376" y="294668"/>
            <a:ext cx="1847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ar-SY" sz="3600" dirty="0">
              <a:solidFill>
                <a:schemeClr val="bg2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304A7D-8B06-4118-B117-D2E0C1DB71D0}"/>
              </a:ext>
            </a:extLst>
          </p:cNvPr>
          <p:cNvSpPr/>
          <p:nvPr/>
        </p:nvSpPr>
        <p:spPr>
          <a:xfrm>
            <a:off x="246091" y="1149183"/>
            <a:ext cx="1162010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rtl="1"/>
            <a:endParaRPr lang="en-US" sz="2000" dirty="0">
              <a:cs typeface="+mj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072956A-1F28-47E8-BD14-7231CF62A69D}"/>
              </a:ext>
            </a:extLst>
          </p:cNvPr>
          <p:cNvSpPr/>
          <p:nvPr/>
        </p:nvSpPr>
        <p:spPr>
          <a:xfrm>
            <a:off x="1576960" y="2644170"/>
            <a:ext cx="89583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ar-SA" sz="96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ndalus" panose="02020603050405020304" pitchFamily="18" charset="-78"/>
                <a:cs typeface="Andalus" panose="02020603050405020304" pitchFamily="18" charset="-78"/>
              </a:rPr>
              <a:t>شكراً لحسن استماعكم</a:t>
            </a:r>
            <a:endParaRPr lang="ar-SY" sz="9600" b="1" dirty="0">
              <a:solidFill>
                <a:schemeClr val="tx1">
                  <a:lumMod val="95000"/>
                  <a:lumOff val="5000"/>
                </a:schemeClr>
              </a:solidFill>
              <a:latin typeface="Andalus" panose="02020603050405020304" pitchFamily="18" charset="-78"/>
              <a:cs typeface="Andalus" panose="02020603050405020304" pitchFamily="18" charset="-78"/>
            </a:endParaRPr>
          </a:p>
        </p:txBody>
      </p:sp>
      <p:sp>
        <p:nvSpPr>
          <p:cNvPr id="3" name="عنصر نائب لرقم الشريحة 2">
            <a:extLst>
              <a:ext uri="{FF2B5EF4-FFF2-40B4-BE49-F238E27FC236}">
                <a16:creationId xmlns:a16="http://schemas.microsoft.com/office/drawing/2014/main" id="{AB542D14-5A83-F30F-6399-DFFE2D740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884576-858C-4F92-9F6C-1C9B522FD6E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54601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1894</TotalTime>
  <Words>1319</Words>
  <Application>Microsoft Office PowerPoint</Application>
  <PresentationFormat>شاشة عريضة</PresentationFormat>
  <Paragraphs>274</Paragraphs>
  <Slides>30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7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30</vt:i4>
      </vt:variant>
    </vt:vector>
  </HeadingPairs>
  <TitlesOfParts>
    <vt:vector size="38" baseType="lpstr">
      <vt:lpstr>Andalus</vt:lpstr>
      <vt:lpstr>Arial</vt:lpstr>
      <vt:lpstr>Calibri</vt:lpstr>
      <vt:lpstr>Calibri Light</vt:lpstr>
      <vt:lpstr>Century Gothic</vt:lpstr>
      <vt:lpstr>Simplified Arabic</vt:lpstr>
      <vt:lpstr>Tw Cen MT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الاستنتاجات: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m.s</dc:creator>
  <cp:lastModifiedBy>m.s</cp:lastModifiedBy>
  <cp:revision>40</cp:revision>
  <dcterms:modified xsi:type="dcterms:W3CDTF">2025-12-19T16:35:45Z</dcterms:modified>
</cp:coreProperties>
</file>